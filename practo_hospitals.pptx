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4" r:id="rId2"/>
    <p:sldId id="330" r:id="rId3"/>
    <p:sldId id="326" r:id="rId4"/>
    <p:sldId id="331" r:id="rId5"/>
    <p:sldId id="328" r:id="rId6"/>
    <p:sldId id="299" r:id="rId7"/>
    <p:sldId id="302" r:id="rId8"/>
    <p:sldId id="303" r:id="rId9"/>
    <p:sldId id="267" r:id="rId10"/>
    <p:sldId id="304" r:id="rId11"/>
    <p:sldId id="266" r:id="rId12"/>
    <p:sldId id="306" r:id="rId13"/>
    <p:sldId id="307" r:id="rId14"/>
    <p:sldId id="308" r:id="rId15"/>
    <p:sldId id="309" r:id="rId16"/>
    <p:sldId id="310" r:id="rId17"/>
    <p:sldId id="311" r:id="rId18"/>
    <p:sldId id="313" r:id="rId19"/>
    <p:sldId id="314" r:id="rId20"/>
    <p:sldId id="315" r:id="rId21"/>
    <p:sldId id="316" r:id="rId22"/>
    <p:sldId id="318" r:id="rId23"/>
    <p:sldId id="317" r:id="rId24"/>
    <p:sldId id="319" r:id="rId25"/>
    <p:sldId id="329" r:id="rId26"/>
    <p:sldId id="320" r:id="rId27"/>
    <p:sldId id="321" r:id="rId28"/>
    <p:sldId id="322" r:id="rId29"/>
    <p:sldId id="323" r:id="rId30"/>
    <p:sldId id="32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6637B-7D86-4A0B-BDF8-3C5415C08685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9B6F2-3205-48B3-84A8-110D72A57A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062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240112-BD17-4252-1CD0-7EC9C2024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44EE269-3DE3-2205-08D2-1C9879D1D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03942777-AA50-D1E9-29DE-DBCB4DB58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8102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07962-C624-F3E7-ABE3-494FF98D1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65BBC9-7778-DE4E-4631-AF21607D1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74EFE-792B-FC75-8CF7-A777F83C8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FF22-CF07-9FF6-8544-88043DC01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2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9133A-B660-09A4-72D0-12C496E8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2D2AA-6E6A-8101-1CDB-C5E4D8AB93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84A57-1B0D-CF74-553B-7371677F5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A416D-3D90-39F0-3C64-06419A768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112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F0E4-389B-11D9-649B-A687EBD4A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ADF4D4-0272-D93A-1F61-3F56D9CF4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8ED21-349F-34A1-A1EA-257AA774A6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669E8-BC31-2832-3E74-8CD3771C0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93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9BFECB4-DADD-1FBE-1FC0-060C44B9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9B1C535-263B-06CE-E2A7-7EACD45472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8648AD0-4C43-E5F0-5AFD-A41A1E3D0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9866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1DC222-EA50-D8D7-FF8B-6F4D466BA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CD44609D-B966-88C8-F11D-03B87D819C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2854CD2-3C2F-D60E-FC29-E993557C94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634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52B085-5503-4F57-1F4F-BD8CB8796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B53F9393-AC0F-28C2-C636-C22BE070E1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0F66F79-4586-D2CD-BA50-F0C93BF23B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8655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FBA7BFE-CDF8-C729-92DA-93EC6297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0520500-1779-4013-C7D6-7DB2018DBB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79BCB86-83D9-14D2-0E1C-F2F8F552AE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12141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837002-9D50-2153-3134-50888672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FAC6E2B-375E-632A-AB02-D3BBFC45A9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16A52E9B-14CA-516D-7E0A-54A50A888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8345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85C980-AC88-E5CA-5944-D870A3B7D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2C49122B-C310-B659-35BD-5CF41B981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A43717E7-89E9-0BD7-3F09-DB80057C0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31447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E3F0539-7308-78C6-FA36-0F8F1C965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DD66A661-F18D-B06A-B458-65AB7BF23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D7658EE-AA2A-8D35-FF46-283F71E7CB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9219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38D4234-346E-A8E6-092F-D975FD638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1FFC5BA9-659C-B35E-CE61-EA948DFE0A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5729FD0C-470B-3744-59CA-F4D16F6A42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3968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E70E7DE-BE68-3665-D458-1053036E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9A0B5FC-740C-3A13-833D-B8CF2F237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4C3E49C-1574-B700-1CC3-9E59DC994F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9528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BB8C0C3-5FD4-E0BE-6044-8C04BB22E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883E077-B997-4B10-2F27-877430734A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678C77-833F-63A5-2D94-F097DA699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5326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1E3BCC-9ECF-8AFD-73E0-D2BC5579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DD1486A-1D4B-5300-431A-D33F3B7FB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27765FE-A7D2-2B78-6E7D-9C5048E1E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832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9F4E29D-9538-462A-CF39-959804A26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8EAA74E0-8FF2-B9BC-8A52-7DB8CAE01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CEB994F7-991D-3C4F-91F0-6A8555A1D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58296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6E3B7F8-2144-C539-9D9E-9F32BC1D4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67D7E420-4C65-89F4-838B-32B49E348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986DA630-AFC1-A5E9-4CF7-6DFAB0F3F9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04616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22F865A-7C69-AA6B-891E-8B69C8B7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EB31B577-D448-982E-727F-2CD1FC0A5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35F0F673-7696-9032-B315-E9F01AD97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8770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F61278A-0F7A-95EA-9F72-21AAA0FCD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663A9F1-86A4-0C61-226E-0543863AD0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89808708-0D6F-23A7-F909-41E581DBFC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83445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B9FF9A1-C8C6-5E1E-379B-CD992A1C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9894DD0E-002E-E0DD-DFA5-57F6C5BC8E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29C8DDB8-7132-4F38-0957-641F236F9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27472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937350B-E4B3-264F-5115-C5FC74DDC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778C8853-830F-98AD-B9B6-D485506F67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7B2D3F24-1F2E-7CED-95C3-3B5393D06F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70612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6110D53-C10C-2F6E-155B-42AC2EE0B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>
            <a:extLst>
              <a:ext uri="{FF2B5EF4-FFF2-40B4-BE49-F238E27FC236}">
                <a16:creationId xmlns:a16="http://schemas.microsoft.com/office/drawing/2014/main" id="{F4E727BF-7D72-22E2-E0B1-C73416EEC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>
            <a:extLst>
              <a:ext uri="{FF2B5EF4-FFF2-40B4-BE49-F238E27FC236}">
                <a16:creationId xmlns:a16="http://schemas.microsoft.com/office/drawing/2014/main" id="{603F95AD-2C99-A13B-21B6-7105ABF6AA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22043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2187-D129-9A01-E3E7-CF92F9AA1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15CD7-7FA0-DF4C-E41C-B892A6EBC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9DDC0-0BFF-72BA-B905-1956D0FFB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BEFC0-F17D-2635-B2BC-53AD11D43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1C95-2158-831B-4CCF-281BE76B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8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7DBEE-21C1-4E37-1E7A-E6A6F7CF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BFFF1-0916-34C0-4D96-FC35669F2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D9A11-B530-3215-8167-D4E57B0C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7B39E-B3C4-41A3-E33F-962022D8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E92F-E9FF-96E3-2CD9-1C6C7FB7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796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7B6E-773D-BF5B-9A21-41CACF130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7FF04-6418-319D-7420-665B15091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F9581-0F4B-116E-F570-2C02158E9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F60B3-2051-10B0-2584-16B134336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BF1D9-6BA5-FA93-E0F4-85662EDE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73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867D2-45D1-E788-7C87-A261A9030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55BDF-618C-1B81-AE52-35132A643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E9F52B-1835-FA36-BD7D-537133CFB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00B36-9212-421F-7121-B4B1FF6C9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D262F-BAF0-3565-9963-06C4F770F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FCAA9-0CD1-9B4A-7A56-060BD4DA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12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C710F-F943-3552-66F3-98337B5B6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74807-2C36-CD72-A3D0-E12977824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C534BB-00FC-64B4-9C59-40F8CD2F8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9D9A7-4E82-F117-3C93-7E2859F8EA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906E1-7C0B-C5EE-804B-66857B662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D74508-FBD0-8C2D-6EB1-0B2E44BD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6C9144-DEBC-6503-D7C7-8E68DE02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50396D-2009-BE6A-AA2B-324A4E148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62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09F2-3A93-157A-AAA9-EF37E7226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529FFD-7352-E5A9-0756-93339E5B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43845-9E81-2B53-E666-1717AD5A0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875FD8-26CC-AF2D-4648-893688312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9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85D19C-89FE-C9A0-FCD2-2E97DD245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757CDB-277D-2EC3-21AD-9C56AA07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8A3846-CCC7-05A5-8E67-A36D7C01B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4294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656B-7779-8910-59F9-620188C73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99A2-29E9-1943-E4BC-A199B7323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8E7A9-B9A3-1CBB-07D6-92EBE0F3A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ABE73-26F0-BCC0-1BF3-5628EDE0C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CF4AC-606E-2AEC-0362-C4DEE580E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C5D3E-27B0-FF21-D041-9A150EDD7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71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FCBC4-FAEB-2228-33FE-2B9B81368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782637-21C7-E34D-D525-F6515A72C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13365-5E12-1DCA-B08A-3952E6751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1690E-FF96-FC78-DE7A-84649C98B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3E7D32-91B2-4F75-8CB7-C6BC7A50C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9C9E9D-EDFA-07D4-74A7-374E1231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48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2550-19E3-FE76-FE4B-67DCA7C5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B3AFE-BE12-6348-7DD5-826F0771C5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D071C-2B5D-9DF0-4504-4B63441C8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537CB-8AC4-7664-C321-8720C8014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B9BB6-9916-7099-A8C3-1D697307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82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7259E1-A069-153E-624F-9350C14DA8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AB16D-3FA3-6106-E7AF-1502475C2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CAFA-AB61-04F2-7AB6-D601AB9E4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FCBC9-420F-CCE3-3D06-D96A1DF9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21AEA1-AC5D-6261-7DE6-CE214C7A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7851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447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79235-43FB-D219-3D82-CBE7EEC3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F2DAE-F2E5-53EB-9AD6-D113A4D3A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E4B94-4742-5884-2778-7A1DDE1A31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DCDDC-88BC-4790-88A6-A3602EED3A1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104CA-7F4A-8F53-0348-EF20F8CC5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0F5F-AB61-188A-4E63-948A9E1F4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B0CD2-2956-4D89-8FB3-96FB526697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19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58717"/>
          <a:stretch/>
        </p:blipFill>
        <p:spPr>
          <a:xfrm>
            <a:off x="0" y="-314960"/>
            <a:ext cx="12190815" cy="276352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3071753" y="2560528"/>
            <a:ext cx="6498968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IN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Web Scraping </a:t>
            </a:r>
            <a:r>
              <a:rPr lang="en-IN" sz="3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Project on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sng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Health Accessibility and Affordability Insight</a:t>
            </a:r>
            <a:r>
              <a:rPr lang="en-I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BF12F8-D91C-D400-1A9E-FFB486D7FCF3}"/>
              </a:ext>
            </a:extLst>
          </p:cNvPr>
          <p:cNvSpPr txBox="1"/>
          <p:nvPr/>
        </p:nvSpPr>
        <p:spPr>
          <a:xfrm>
            <a:off x="181599" y="5981301"/>
            <a:ext cx="3657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Joshi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B1487B-FAD2-8BB5-6F00-ED1939E35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00105" y="912459"/>
            <a:ext cx="10800596" cy="5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Background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Agricultural Engineering</a:t>
            </a:r>
          </a:p>
          <a:p>
            <a:pPr lvl="0" algn="just">
              <a:buClr>
                <a:schemeClr val="dk1"/>
              </a:buClr>
              <a:buSzPts val="1800"/>
            </a:pP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-IN" sz="1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Objective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want to learn Data Science because it blends my engineering background with analytical problem-solving. I enjoy working with data to uncover patterns and make informed decisions, and Data Science gives me the tools to create real-world impact while transitioning into a tech-focused career.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/>
              <a:buChar char="•"/>
            </a:pP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just">
              <a:buClr>
                <a:schemeClr val="dk1"/>
              </a:buClr>
              <a:buSzPts val="1800"/>
            </a:pP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W</a:t>
            </a:r>
            <a:r>
              <a:rPr lang="en-IN" sz="18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ork experience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professional experience as a teacher. </a:t>
            </a:r>
          </a:p>
          <a:p>
            <a:pPr marL="285750" lvl="0" indent="-285750" algn="just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I’m a fresher in Data Science, I’m actively working on hands-on projects and building strong analytical and technical skills to transition into this field.</a:t>
            </a:r>
            <a:endParaRPr sz="18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endParaRPr lang="en-IN" sz="18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just">
              <a:buClr>
                <a:schemeClr val="dk1"/>
              </a:buClr>
              <a:buSzPts val="1800"/>
            </a:pP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linkedin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url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:</a:t>
            </a:r>
          </a:p>
          <a:p>
            <a:pPr lvl="0" algn="just">
              <a:buClr>
                <a:schemeClr val="dk1"/>
              </a:buClr>
              <a:buSzPts val="1800"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https://www.linkedin.com/in/shreya-joshi-b84376350?utm_source=share&amp;utm_campaign=share_via&amp;utm_content=profile&amp;utm_medium=android_app</a:t>
            </a:r>
          </a:p>
          <a:p>
            <a:pPr lvl="0" algn="just">
              <a:buClr>
                <a:schemeClr val="dk1"/>
              </a:buClr>
              <a:buSzPts val="1800"/>
            </a:pP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lvl="0" algn="just">
              <a:buClr>
                <a:schemeClr val="dk1"/>
              </a:buClr>
              <a:buSzPts val="1800"/>
            </a:pP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github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IN" sz="1800" b="1" dirty="0" err="1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url</a:t>
            </a:r>
            <a:r>
              <a:rPr lang="en-I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:</a:t>
            </a: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https://github.com/S2023-maker</a:t>
            </a:r>
          </a:p>
          <a:p>
            <a:pPr lvl="0" algn="just">
              <a:buClr>
                <a:schemeClr val="dk1"/>
              </a:buClr>
              <a:buSzPts val="1800"/>
            </a:pP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A060-383C-5D2D-7435-7B33B7B35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AAB8C5-2B15-71AA-8CB2-854CF62154A5}"/>
              </a:ext>
            </a:extLst>
          </p:cNvPr>
          <p:cNvSpPr txBox="1"/>
          <p:nvPr/>
        </p:nvSpPr>
        <p:spPr>
          <a:xfrm>
            <a:off x="662968" y="206656"/>
            <a:ext cx="73227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Source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practo.com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153199-A3BD-FDDC-E27A-DD7A58947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6403" y="309479"/>
            <a:ext cx="2220995" cy="2220995"/>
          </a:xfrm>
          <a:prstGeom prst="rect">
            <a:avLst/>
          </a:prstGeom>
          <a:noFill/>
          <a:scene3d>
            <a:camera prst="obliqueTopRight"/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097193-D955-309C-E0B8-5E5314A8C784}"/>
              </a:ext>
            </a:extLst>
          </p:cNvPr>
          <p:cNvSpPr txBox="1"/>
          <p:nvPr/>
        </p:nvSpPr>
        <p:spPr>
          <a:xfrm>
            <a:off x="652807" y="1104213"/>
            <a:ext cx="856660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link: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https://www.practo.com/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Tools used </a:t>
            </a:r>
            <a:r>
              <a:rPr lang="en-US" sz="20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Python · Selenium · Pandas · Matplotlib · Seaborn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008718-F611-38D1-63C2-A67881BF6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92359E74-840D-13A8-CF0D-B7B66EA7DA88}"/>
              </a:ext>
            </a:extLst>
          </p:cNvPr>
          <p:cNvSpPr/>
          <p:nvPr/>
        </p:nvSpPr>
        <p:spPr>
          <a:xfrm>
            <a:off x="652807" y="899806"/>
            <a:ext cx="7623927" cy="520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03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CE5A-2DF2-EF21-FD55-6B5A7FE5F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C8A479C-1EB0-ED49-E08A-7D1E1306E9E1}"/>
              </a:ext>
            </a:extLst>
          </p:cNvPr>
          <p:cNvSpPr txBox="1"/>
          <p:nvPr/>
        </p:nvSpPr>
        <p:spPr>
          <a:xfrm>
            <a:off x="652807" y="295416"/>
            <a:ext cx="856660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algn="just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Practo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healthcare platform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one of India’s largest online healthcare services websites.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patients find doctors, book appointments, consult online, and access health-related services in one place.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568 records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 columns.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Covering doctor details like name, specialization, experience, locality, city, hospital name, consultation fee, rating, working hours, timing category, and time duration across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10+ Indian cities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0E3EE6-609F-6F35-D33D-6279D19A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4005" y="735850"/>
            <a:ext cx="2110923" cy="21718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0C378E-8466-E79D-0DE3-6A75BD820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5A4EE44F-7E94-4A92-DB24-14D7B2DE01C8}"/>
              </a:ext>
            </a:extLst>
          </p:cNvPr>
          <p:cNvSpPr/>
          <p:nvPr/>
        </p:nvSpPr>
        <p:spPr>
          <a:xfrm>
            <a:off x="652807" y="899806"/>
            <a:ext cx="7623927" cy="5201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ea typeface="Calibri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60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F47B636-D96B-DAD2-A7A6-F8CE37D15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1259D0E-26C6-C8F6-4263-242A837FE6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41EF5-DDBC-3CF6-E5FC-460BB817A719}"/>
              </a:ext>
            </a:extLst>
          </p:cNvPr>
          <p:cNvSpPr txBox="1"/>
          <p:nvPr/>
        </p:nvSpPr>
        <p:spPr>
          <a:xfrm>
            <a:off x="551465" y="16381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3404C-F471-A025-B6C4-229C6C2ABD99}"/>
              </a:ext>
            </a:extLst>
          </p:cNvPr>
          <p:cNvSpPr txBox="1"/>
          <p:nvPr/>
        </p:nvSpPr>
        <p:spPr>
          <a:xfrm>
            <a:off x="725863" y="87001"/>
            <a:ext cx="105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Dataset after Extraction</a:t>
            </a: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1F1569-057D-D5DA-0999-E3968EC32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879" y="514097"/>
            <a:ext cx="8458241" cy="618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229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AF094-4FE8-81F4-726F-95096E048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7F86C9-FFA8-C5FA-EE0B-9BB0C7C27240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025DB7-D5AB-1A6C-BB43-025BAEA65F76}"/>
              </a:ext>
            </a:extLst>
          </p:cNvPr>
          <p:cNvSpPr/>
          <p:nvPr/>
        </p:nvSpPr>
        <p:spPr>
          <a:xfrm>
            <a:off x="609600" y="39014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Transformation</a:t>
            </a:r>
            <a:endParaRPr lang="en-US" sz="3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F4F0C11-D30D-024E-BFD0-FDC9F31CFE24}"/>
              </a:ext>
            </a:extLst>
          </p:cNvPr>
          <p:cNvSpPr/>
          <p:nvPr/>
        </p:nvSpPr>
        <p:spPr>
          <a:xfrm>
            <a:off x="365760" y="1341120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C28EFF-A038-E2EF-997C-9F98FC56D769}"/>
              </a:ext>
            </a:extLst>
          </p:cNvPr>
          <p:cNvSpPr/>
          <p:nvPr/>
        </p:nvSpPr>
        <p:spPr>
          <a:xfrm>
            <a:off x="48768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Consultation_Fee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AD4B2CA-99F5-B45B-87F0-66B32EBB7A54}"/>
              </a:ext>
            </a:extLst>
          </p:cNvPr>
          <p:cNvSpPr/>
          <p:nvPr/>
        </p:nvSpPr>
        <p:spPr>
          <a:xfrm>
            <a:off x="646176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→ Rating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E6C8D66-8BC2-291D-5270-4D413ACDAFBF}"/>
              </a:ext>
            </a:extLst>
          </p:cNvPr>
          <p:cNvSpPr/>
          <p:nvPr/>
        </p:nvSpPr>
        <p:spPr>
          <a:xfrm>
            <a:off x="487680" y="303580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0A3AA8BC-6AB3-A43A-37EB-D1FB455ADEBE}"/>
              </a:ext>
            </a:extLst>
          </p:cNvPr>
          <p:cNvSpPr/>
          <p:nvPr/>
        </p:nvSpPr>
        <p:spPr>
          <a:xfrm>
            <a:off x="2973842" y="4297491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277BDAA6-29E5-4976-31E5-B3CBA96D60EF}"/>
              </a:ext>
            </a:extLst>
          </p:cNvPr>
          <p:cNvSpPr/>
          <p:nvPr/>
        </p:nvSpPr>
        <p:spPr>
          <a:xfrm>
            <a:off x="487680" y="468172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Hospital_Name</a:t>
            </a:r>
            <a:endParaRPr lang="en-US" sz="1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DE68748-819A-18C1-9E1D-E08F6C911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907858"/>
            <a:ext cx="9607799" cy="160767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0D57D2F0-626B-5CA3-C6DB-712D898058CE}"/>
              </a:ext>
            </a:extLst>
          </p:cNvPr>
          <p:cNvSpPr txBox="1"/>
          <p:nvPr/>
        </p:nvSpPr>
        <p:spPr>
          <a:xfrm>
            <a:off x="496478" y="3929747"/>
            <a:ext cx="1071136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i="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 was cleaned by removing the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₹ symbol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commas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making the values easier to process numerically.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text value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"Free Consultation"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was replaced with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maintain numerical consistency.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61ECB1-2548-DF0D-71D6-46C99B073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072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F64CC-8968-967D-E533-F7AE90BDE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3ED9972-7BA2-4C67-ADDA-DFDAFF991C5B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BD5C69B-CCEB-D516-975D-1ED0059BFF41}"/>
              </a:ext>
            </a:extLst>
          </p:cNvPr>
          <p:cNvSpPr/>
          <p:nvPr/>
        </p:nvSpPr>
        <p:spPr>
          <a:xfrm>
            <a:off x="609600" y="39014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Transformation</a:t>
            </a:r>
            <a:endParaRPr lang="en-US" sz="3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21B022F-97D7-D031-61F9-8D5AE4546581}"/>
              </a:ext>
            </a:extLst>
          </p:cNvPr>
          <p:cNvSpPr/>
          <p:nvPr/>
        </p:nvSpPr>
        <p:spPr>
          <a:xfrm>
            <a:off x="365760" y="6498336"/>
            <a:ext cx="1146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3E09F69-862C-DB9A-645B-D02287113DA0}"/>
              </a:ext>
            </a:extLst>
          </p:cNvPr>
          <p:cNvSpPr/>
          <p:nvPr/>
        </p:nvSpPr>
        <p:spPr>
          <a:xfrm>
            <a:off x="365760" y="1341120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DB6F43-8B3F-BD2B-8F6E-A323B77BC827}"/>
              </a:ext>
            </a:extLst>
          </p:cNvPr>
          <p:cNvSpPr/>
          <p:nvPr/>
        </p:nvSpPr>
        <p:spPr>
          <a:xfrm>
            <a:off x="48768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→ Rating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4393E3E-9BE8-6B4C-E31F-F936A06CC7C3}"/>
              </a:ext>
            </a:extLst>
          </p:cNvPr>
          <p:cNvSpPr/>
          <p:nvPr/>
        </p:nvSpPr>
        <p:spPr>
          <a:xfrm>
            <a:off x="646176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→ Rating</a:t>
            </a:r>
            <a:endParaRPr lang="en-US" sz="16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DF7FFB4-FBE8-7ED7-F2F9-805F50B8469B}"/>
              </a:ext>
            </a:extLst>
          </p:cNvPr>
          <p:cNvSpPr/>
          <p:nvPr/>
        </p:nvSpPr>
        <p:spPr>
          <a:xfrm>
            <a:off x="487680" y="303580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4C0947-3F71-1B72-336C-AE8D94D942EC}"/>
              </a:ext>
            </a:extLst>
          </p:cNvPr>
          <p:cNvSpPr/>
          <p:nvPr/>
        </p:nvSpPr>
        <p:spPr>
          <a:xfrm>
            <a:off x="2973842" y="4297491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3F281C43-DB86-E42A-F516-2D07C4D8945F}"/>
              </a:ext>
            </a:extLst>
          </p:cNvPr>
          <p:cNvSpPr/>
          <p:nvPr/>
        </p:nvSpPr>
        <p:spPr>
          <a:xfrm>
            <a:off x="487680" y="468172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Hospital_Name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8883EF-1E35-75F3-877C-760C033B3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21749"/>
            <a:ext cx="8318212" cy="25852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0EECF93-8B50-1E50-9BBE-7BF50276CD2B}"/>
              </a:ext>
            </a:extLst>
          </p:cNvPr>
          <p:cNvSpPr txBox="1"/>
          <p:nvPr/>
        </p:nvSpPr>
        <p:spPr>
          <a:xfrm>
            <a:off x="300401" y="4564676"/>
            <a:ext cx="113385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symbol was 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the Recommendation column to clean the values.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column was converted into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format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mathematical operations.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percentage values were transformed into a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 scale out of 10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easier interpretation.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column name was changed from </a:t>
            </a:r>
            <a:r>
              <a:rPr lang="en-US" sz="2000" b="1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 to Rating</a:t>
            </a:r>
            <a:r>
              <a:rPr lang="en-US" sz="2000" b="0" i="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better represent the converted values.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1FEFD-752C-EA8C-5C0C-E30682587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2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BBFF4-D594-CE39-CC62-C540C6B1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1B0739-07DE-0E14-D33D-087DC62B2649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029ACF-15E9-639A-85E7-0994748A45F8}"/>
              </a:ext>
            </a:extLst>
          </p:cNvPr>
          <p:cNvSpPr/>
          <p:nvPr/>
        </p:nvSpPr>
        <p:spPr>
          <a:xfrm>
            <a:off x="609600" y="390144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Transformation</a:t>
            </a:r>
            <a:endParaRPr lang="en-US" sz="3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D3EB848-AC32-5AE1-E92C-78E821570F4A}"/>
              </a:ext>
            </a:extLst>
          </p:cNvPr>
          <p:cNvSpPr/>
          <p:nvPr/>
        </p:nvSpPr>
        <p:spPr>
          <a:xfrm>
            <a:off x="365760" y="6498336"/>
            <a:ext cx="1146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333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DB23026-27FC-C094-8BC1-B670BB5C49F3}"/>
              </a:ext>
            </a:extLst>
          </p:cNvPr>
          <p:cNvSpPr/>
          <p:nvPr/>
        </p:nvSpPr>
        <p:spPr>
          <a:xfrm>
            <a:off x="365760" y="1341120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8B1DDCC-01A8-2FCD-E405-B8EF47C651B0}"/>
              </a:ext>
            </a:extLst>
          </p:cNvPr>
          <p:cNvSpPr/>
          <p:nvPr/>
        </p:nvSpPr>
        <p:spPr>
          <a:xfrm>
            <a:off x="48768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CA8B9E3-7C83-6573-0279-98DA128935F6}"/>
              </a:ext>
            </a:extLst>
          </p:cNvPr>
          <p:cNvSpPr/>
          <p:nvPr/>
        </p:nvSpPr>
        <p:spPr>
          <a:xfrm>
            <a:off x="6461760" y="138988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→ Rating</a:t>
            </a:r>
            <a:endParaRPr lang="en-US" sz="16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2AE085E-50FB-1437-4CC1-B3388C616693}"/>
              </a:ext>
            </a:extLst>
          </p:cNvPr>
          <p:cNvSpPr/>
          <p:nvPr/>
        </p:nvSpPr>
        <p:spPr>
          <a:xfrm>
            <a:off x="2973842" y="4297491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F7A94E3-4CB9-CC2F-54BA-C0B17F3B3ACD}"/>
              </a:ext>
            </a:extLst>
          </p:cNvPr>
          <p:cNvSpPr/>
          <p:nvPr/>
        </p:nvSpPr>
        <p:spPr>
          <a:xfrm>
            <a:off x="487680" y="4681728"/>
            <a:ext cx="53644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Hospital_Name</a:t>
            </a: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8244DB-7FDE-3A6E-F22B-48487D6B6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68" y="1832768"/>
            <a:ext cx="7168141" cy="40204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8ED13D-D9C6-D298-F30A-391255ECDB08}"/>
              </a:ext>
            </a:extLst>
          </p:cNvPr>
          <p:cNvSpPr txBox="1"/>
          <p:nvPr/>
        </p:nvSpPr>
        <p:spPr>
          <a:xfrm>
            <a:off x="231268" y="2440323"/>
            <a:ext cx="88178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commas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the Locality column.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leading and trailing spaces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using </a:t>
            </a:r>
            <a:r>
              <a:rPr lang="en-US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str.strip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 to clean the text values.</a:t>
            </a: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E4D6EFF3-2E21-7D4F-43F6-D822F32F9A65}"/>
              </a:ext>
            </a:extLst>
          </p:cNvPr>
          <p:cNvSpPr/>
          <p:nvPr/>
        </p:nvSpPr>
        <p:spPr>
          <a:xfrm>
            <a:off x="316739" y="3451750"/>
            <a:ext cx="5608320" cy="39014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0A73CA-0440-7341-395A-EF3226E0215F}"/>
              </a:ext>
            </a:extLst>
          </p:cNvPr>
          <p:cNvSpPr txBox="1"/>
          <p:nvPr/>
        </p:nvSpPr>
        <p:spPr>
          <a:xfrm>
            <a:off x="365760" y="3406250"/>
            <a:ext cx="64567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F26A1F2-F238-7F01-1CF0-F77ED15B4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68" y="3872374"/>
            <a:ext cx="5779261" cy="12198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A6A5B23-10EE-EC7C-73E8-2AF20788AAB3}"/>
              </a:ext>
            </a:extLst>
          </p:cNvPr>
          <p:cNvSpPr txBox="1"/>
          <p:nvPr/>
        </p:nvSpPr>
        <p:spPr>
          <a:xfrm>
            <a:off x="316739" y="5483120"/>
            <a:ext cx="103449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Extracted the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 values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from the Experience column using a regular expression.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 extracted values into </a:t>
            </a:r>
            <a:r>
              <a:rPr lang="en-US" sz="20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integer type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numerical analysis.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95404-498A-7F56-06B4-7C961E41C8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699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311085"/>
            <a:ext cx="10515600" cy="5959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6B56E-1229-0749-8A0C-F7D417BBBA1E}"/>
              </a:ext>
            </a:extLst>
          </p:cNvPr>
          <p:cNvSpPr txBox="1"/>
          <p:nvPr/>
        </p:nvSpPr>
        <p:spPr>
          <a:xfrm>
            <a:off x="557752" y="218817"/>
            <a:ext cx="11076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Description</a:t>
            </a:r>
          </a:p>
        </p:txBody>
      </p:sp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5E081F4E-D6B5-6D55-B695-14ACCC6BA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045903"/>
              </p:ext>
            </p:extLst>
          </p:nvPr>
        </p:nvGraphicFramePr>
        <p:xfrm>
          <a:off x="2164871" y="922478"/>
          <a:ext cx="7862255" cy="4736496"/>
        </p:xfrm>
        <a:graphic>
          <a:graphicData uri="http://schemas.openxmlformats.org/drawingml/2006/table">
            <a:tbl>
              <a:tblPr/>
              <a:tblGrid>
                <a:gridCol w="3043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0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9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Column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457200" lvl="0" indent="-457200">
                        <a:lnSpc>
                          <a:spcPct val="100000"/>
                        </a:lnSpc>
                        <a:buFont typeface="+mj-lt"/>
                        <a:buAutoNum type="arabicPeriod"/>
                      </a:pP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Doctor_Name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Full name of the doctor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2.    Specialization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Medical specialization / department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3.    Experience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Integer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Years of professional experience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4.    Locality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Area/locality of the hospital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5.    City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City where hospital is located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6.    </a:t>
                      </a: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Hospital_Name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Name of the hospital or clinic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7.    </a:t>
                      </a: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Consultation_Fee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Fee charged per consultation (₹)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8.    Rating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Patient rating out of 10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9.    </a:t>
                      </a: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Working_Hours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Operational hours of the doctor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10.  </a:t>
                      </a: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Timing_Category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Object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Morning / 24x7 classification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5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4708"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11.  </a:t>
                      </a:r>
                      <a:r>
                        <a:rPr lang="en-US" sz="1800" dirty="0" err="1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Time_Duration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Float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Font typeface="+mj-lt"/>
                        <a:buNone/>
                      </a:pPr>
                      <a:r>
                        <a:rPr lang="en-US" sz="1800" dirty="0">
                          <a:solidFill>
                            <a:srgbClr val="CFD8DC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Duration of working hours</a:t>
                      </a:r>
                      <a:endParaRPr lang="en-US" sz="18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2154EECD-B075-67F9-5560-ABC8E21FD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2630" y="6017058"/>
            <a:ext cx="3338185" cy="723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67372A7-6747-D765-28FB-A3987D9FD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8A78D5B9-32A9-230D-1902-992DE6D68F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35E612-7C52-EF5C-132C-BC89255C4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610" y="1215366"/>
            <a:ext cx="4884201" cy="4872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55D9F19-E9A0-A911-9EC9-296D665CE0A6}"/>
              </a:ext>
            </a:extLst>
          </p:cNvPr>
          <p:cNvSpPr txBox="1"/>
          <p:nvPr/>
        </p:nvSpPr>
        <p:spPr>
          <a:xfrm>
            <a:off x="435989" y="197963"/>
            <a:ext cx="1132002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df.info( )</a:t>
            </a:r>
          </a:p>
          <a:p>
            <a:pPr algn="just"/>
            <a:endParaRPr lang="en-US" sz="2000" b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is  showing the dataset 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column transformation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before handling missing values and duplicates.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still has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 missing values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 still has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142 missing values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Duplicates are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yet removed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86BF59-B075-2340-10B9-0F9FA8E4F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41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26B56E-1229-0749-8A0C-F7D417BBBA1E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3269C-3A7A-2A87-AE7B-513C362F02A3}"/>
              </a:ext>
            </a:extLst>
          </p:cNvPr>
          <p:cNvSpPr txBox="1"/>
          <p:nvPr/>
        </p:nvSpPr>
        <p:spPr>
          <a:xfrm>
            <a:off x="2771481" y="47077"/>
            <a:ext cx="60944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</a:t>
            </a:r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Cleaning &amp; Preparation</a:t>
            </a:r>
            <a:endParaRPr lang="en-US" sz="3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6D6310-2335-69A9-ACEC-FA731ABAB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841" y="1002352"/>
            <a:ext cx="8957988" cy="57309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041072-EA0A-CE59-F72F-C4F24331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496CA087-59BA-406F-153E-2BEBC30A40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E11275-EFE7-266E-66A9-59B0EC8231FC}"/>
              </a:ext>
            </a:extLst>
          </p:cNvPr>
          <p:cNvSpPr txBox="1"/>
          <p:nvPr/>
        </p:nvSpPr>
        <p:spPr>
          <a:xfrm>
            <a:off x="172038" y="259153"/>
            <a:ext cx="892482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missing values</a:t>
            </a:r>
          </a:p>
          <a:p>
            <a:pPr algn="just"/>
            <a:endParaRPr lang="en-IN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columns have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good data completeness.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 has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missing values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has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 missing values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 has the highest missing values with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140 entries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46E95-40C0-2596-8EA0-DD44A5BE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592" y="1474870"/>
            <a:ext cx="3521614" cy="43789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DEE7A8E-BF0C-A342-C183-713CAEC0C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82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0875614-837E-AC85-01CB-5E84F5F1D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B4014F6-F585-168E-9D95-787AEF05F1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Removed rows where </a:t>
            </a:r>
            <a:r>
              <a:rPr lang="en-US" b="1" dirty="0"/>
              <a:t>Specialization</a:t>
            </a:r>
            <a:r>
              <a:rPr lang="en-US" dirty="0"/>
              <a:t> was missing using </a:t>
            </a:r>
            <a:r>
              <a:rPr lang="en-US" dirty="0" err="1"/>
              <a:t>dropna</a:t>
            </a:r>
            <a:r>
              <a:rPr lang="en-US" dirty="0"/>
              <a:t>().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5FAC04-F0DF-B8C0-80F3-EF00DFCE6BA2}"/>
              </a:ext>
            </a:extLst>
          </p:cNvPr>
          <p:cNvSpPr txBox="1"/>
          <p:nvPr/>
        </p:nvSpPr>
        <p:spPr>
          <a:xfrm>
            <a:off x="172036" y="120544"/>
            <a:ext cx="10338851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missing values</a:t>
            </a:r>
          </a:p>
          <a:p>
            <a:pPr algn="just"/>
            <a:endParaRPr lang="en-IN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the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to numeric format for proper analysis.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values in </a:t>
            </a:r>
            <a:r>
              <a:rPr lang="en-US" sz="2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the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 value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to handle missing data.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Filled missing values in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with its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median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maintain dataset consistency.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Verified the dataset using </a:t>
            </a:r>
            <a:r>
              <a:rPr lang="en-US" sz="2000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df.isnull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().sum() 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ensure missing values were handled.</a:t>
            </a:r>
          </a:p>
          <a:p>
            <a:pPr algn="just"/>
            <a:endPara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E4AD8-A6C3-5719-AEDB-CAAA7F171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991" y="2436497"/>
            <a:ext cx="6091328" cy="29717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B66B91-3968-C7E5-659E-8F058D74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91" y="5408277"/>
            <a:ext cx="6091328" cy="461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8D3D19-3E9B-7BE1-B9DB-D4EFCBFF3E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111" y="2438189"/>
            <a:ext cx="2271860" cy="3499893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F14CB745-2041-8957-21A2-C29882A70063}"/>
              </a:ext>
            </a:extLst>
          </p:cNvPr>
          <p:cNvSpPr/>
          <p:nvPr/>
        </p:nvSpPr>
        <p:spPr>
          <a:xfrm>
            <a:off x="6759019" y="3922387"/>
            <a:ext cx="1404593" cy="46166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A94268-47C5-110B-1E43-B0E16078E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10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860FB4A-9F3F-DA65-EF3F-D934AFF46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557418F-5050-13AB-BBBE-994B9797A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5CE4BE-FDAB-6472-1E9E-40252494A51D}"/>
              </a:ext>
            </a:extLst>
          </p:cNvPr>
          <p:cNvSpPr txBox="1"/>
          <p:nvPr/>
        </p:nvSpPr>
        <p:spPr>
          <a:xfrm>
            <a:off x="181464" y="186625"/>
            <a:ext cx="1034827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duplicate values</a:t>
            </a:r>
          </a:p>
          <a:p>
            <a:pPr algn="just"/>
            <a:endPara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initially contained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duplicate rows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duplicate records were removed to ensure data uniqueness.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cleaning, the dataset size became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(rows, columns)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duplicate rows 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remain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1371C0-C7F4-2515-739C-B67289BEA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817" y="2902872"/>
            <a:ext cx="5562940" cy="3386137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D261940F-6610-A1DE-20F2-2F3A4BC3F7C8}"/>
              </a:ext>
            </a:extLst>
          </p:cNvPr>
          <p:cNvSpPr/>
          <p:nvPr/>
        </p:nvSpPr>
        <p:spPr>
          <a:xfrm>
            <a:off x="6759019" y="3922387"/>
            <a:ext cx="1404593" cy="461665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839150-CC07-D9C2-8527-9E2BFD35E0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578" y="3604309"/>
            <a:ext cx="2605582" cy="116565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C2322E2-0AA2-EC68-F9C9-BCF4686708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77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1BB1F82-811A-6EDD-5A33-37D7DC9EB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352F2F6-A9A7-F0F4-FF3A-C0B383EFD2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1B8826-C1CF-9521-B523-F54B04D065C1}"/>
              </a:ext>
            </a:extLst>
          </p:cNvPr>
          <p:cNvSpPr txBox="1"/>
          <p:nvPr/>
        </p:nvSpPr>
        <p:spPr>
          <a:xfrm>
            <a:off x="238026" y="-110179"/>
            <a:ext cx="892482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&amp; Treatment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38B4C4-73A4-A4E6-C56E-F2347C51F9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277"/>
          <a:stretch>
            <a:fillRect/>
          </a:stretch>
        </p:blipFill>
        <p:spPr>
          <a:xfrm>
            <a:off x="238026" y="868704"/>
            <a:ext cx="7309900" cy="30729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EF2E94-E32B-1920-EC08-AC7565B875D8}"/>
              </a:ext>
            </a:extLst>
          </p:cNvPr>
          <p:cNvSpPr txBox="1"/>
          <p:nvPr/>
        </p:nvSpPr>
        <p:spPr>
          <a:xfrm>
            <a:off x="401546" y="4234970"/>
            <a:ext cx="92137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 analysis was performed on the 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 columns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4 outliers were detected outside the range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to 63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65 outliers were detected outside the range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to 3000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56 outliers were detected outside the range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2.9 to 10.</a:t>
            </a:r>
            <a:endParaRPr lang="en-US" sz="20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b="1" dirty="0" err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Time_Duration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133 outliers were detected outside the range 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to 24</a:t>
            </a:r>
            <a:r>
              <a:rPr lang="en-US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E9B666-D512-1275-E8DC-8FB7A9A1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97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20ECBD1-5CBA-086A-72A1-E78E8B28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A9247EC-31BF-A051-27EB-C996ED79F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90CA3-58AD-2355-BD45-DD8C3AAE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07" y="291046"/>
            <a:ext cx="10140798" cy="572325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99BB3D8-3A39-CE12-35D5-85A4393FC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74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64937B1-AC9C-B586-C129-9CCBDE6FD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CF024DCF-54C4-08C1-6E24-B1827FD4CE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2532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dirty="0"/>
              <a:t>Observation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	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F13172-2242-E982-6A58-96795EEA62BA}"/>
              </a:ext>
            </a:extLst>
          </p:cNvPr>
          <p:cNvSpPr txBox="1"/>
          <p:nvPr/>
        </p:nvSpPr>
        <p:spPr>
          <a:xfrm>
            <a:off x="530257" y="254440"/>
            <a:ext cx="89248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 Were Not Removed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F07156-C3BA-2A40-4B73-F3A3A2CFF2C5}"/>
              </a:ext>
            </a:extLst>
          </p:cNvPr>
          <p:cNvSpPr txBox="1"/>
          <p:nvPr/>
        </p:nvSpPr>
        <p:spPr>
          <a:xfrm>
            <a:off x="530257" y="958013"/>
            <a:ext cx="1089503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Outliers in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Experience,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Consultation_Fee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Rating, and 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Time_Duration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were not removed because they represent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variations in healthcare services rather than data errors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Removing them could lead to loss of important information and misrepresentation of the dataset.</a:t>
            </a:r>
          </a:p>
          <a:p>
            <a:pPr algn="just"/>
            <a:endParaRPr lang="en-IN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Experience -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Removing these values would hide the presence of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senior and highly experienced 		doctors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 is  important for healthcare analysis.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Consultation Fee -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hospitals provide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consultations (₹0)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as part of promotions or public 		         healthcare services. Highly specialized doctors or premium hospitals may 			         charge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consultation fee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Rating -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 are based on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feedback and satisfaction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Time Duration - 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hospitals operate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hours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especially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emergency and multi-specialty  		        hospitals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Smaller clinics may operate only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few hours per day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while larger 		        hospitals may  have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extended consultation hours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E8264C-B175-DD6F-51A5-D3F480D07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3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4F3D54-AB70-28C7-7D27-7483A25F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00147A69-BEA3-5652-5AED-F72F26E61B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130810">
              <a:buSzPct val="100000"/>
              <a:buNone/>
            </a:pP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EA018C-0E63-1C29-203B-FB2522AE98F1}"/>
              </a:ext>
            </a:extLst>
          </p:cNvPr>
          <p:cNvSpPr txBox="1"/>
          <p:nvPr/>
        </p:nvSpPr>
        <p:spPr>
          <a:xfrm>
            <a:off x="551465" y="16381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A29707-DEBC-2407-DFD3-CC0EE1975E1C}"/>
              </a:ext>
            </a:extLst>
          </p:cNvPr>
          <p:cNvSpPr txBox="1"/>
          <p:nvPr/>
        </p:nvSpPr>
        <p:spPr>
          <a:xfrm>
            <a:off x="725863" y="87001"/>
            <a:ext cx="105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After Cleaning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BB346-5793-6A07-A3AD-169CFB4B0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77" y="548666"/>
            <a:ext cx="8782069" cy="5694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9D7DAA-6293-D449-23EB-D45FDE4B7086}"/>
              </a:ext>
            </a:extLst>
          </p:cNvPr>
          <p:cNvSpPr txBox="1"/>
          <p:nvPr/>
        </p:nvSpPr>
        <p:spPr>
          <a:xfrm>
            <a:off x="1562225" y="6309334"/>
            <a:ext cx="90346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 has 561 rows and 11 Columns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60520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97628FC-3AEF-5B9A-BDD1-1CCF98A32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3BE6C19-EE2A-DD5A-A8DC-59AD46C80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Observation: Density Plot of Doctor Experience</a:t>
            </a:r>
          </a:p>
          <a:p>
            <a:r>
              <a:rPr lang="en-US" dirty="0"/>
              <a:t>The distribution of </a:t>
            </a:r>
            <a:r>
              <a:rPr lang="en-US" b="1" dirty="0"/>
              <a:t>doctor experience</a:t>
            </a:r>
            <a:r>
              <a:rPr lang="en-US" dirty="0"/>
              <a:t> appears </a:t>
            </a:r>
            <a:r>
              <a:rPr lang="en-US" b="1" dirty="0"/>
              <a:t>right-skewed (positively skewed)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23C159-08C4-D901-659B-E785752E22F1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C029D-1F1B-F755-B073-02312FED06DE}"/>
              </a:ext>
            </a:extLst>
          </p:cNvPr>
          <p:cNvSpPr txBox="1"/>
          <p:nvPr/>
        </p:nvSpPr>
        <p:spPr>
          <a:xfrm>
            <a:off x="810704" y="163320"/>
            <a:ext cx="105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Univariate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A7309D-1D85-CC12-0D74-AF9828E20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54" y="1751955"/>
            <a:ext cx="4751152" cy="37072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8B159F-FF2E-8D67-7C42-5D01A370FFEB}"/>
              </a:ext>
            </a:extLst>
          </p:cNvPr>
          <p:cNvSpPr txBox="1"/>
          <p:nvPr/>
        </p:nvSpPr>
        <p:spPr>
          <a:xfrm>
            <a:off x="443059" y="769451"/>
            <a:ext cx="638220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Density Plot of Experience</a:t>
            </a:r>
          </a:p>
          <a:p>
            <a:pPr algn="just"/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doctors have experience concentrated between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to 30 years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the density is highest.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peak of the curve occurs around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 years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many doctors in the dataset have moderate professional experience.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smaller number of doctors have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experience (above 40–50 years)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creates the long right tail in the distribution.</a:t>
            </a:r>
          </a:p>
          <a:p>
            <a:pPr algn="just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suggests that the healthcare workforce mainly consists of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mid-career professionals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fewer extremely senior doctors.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8D771B-E654-9600-22FD-4633BB1E9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71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55CBFEF-00DD-A891-1292-58EFFA948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794B0F01-D7AC-3030-CD38-848F842B24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Observation: Density Plot of Doctor Experience</a:t>
            </a:r>
          </a:p>
          <a:p>
            <a:r>
              <a:rPr lang="en-US" dirty="0"/>
              <a:t>The distribution of </a:t>
            </a:r>
            <a:r>
              <a:rPr lang="en-US" b="1" dirty="0"/>
              <a:t>doctor experience</a:t>
            </a:r>
            <a:r>
              <a:rPr lang="en-US" dirty="0"/>
              <a:t> appears </a:t>
            </a:r>
            <a:r>
              <a:rPr lang="en-US" b="1" dirty="0"/>
              <a:t>right-skewed (positively skewed)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48AC80-BA12-9213-7A40-A7B8F77C9A02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82AF87-D54D-04FF-AE62-2C7D6EF10F9B}"/>
              </a:ext>
            </a:extLst>
          </p:cNvPr>
          <p:cNvSpPr txBox="1"/>
          <p:nvPr/>
        </p:nvSpPr>
        <p:spPr>
          <a:xfrm>
            <a:off x="221530" y="352891"/>
            <a:ext cx="638220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Consultation Fee Distribution</a:t>
            </a:r>
          </a:p>
          <a:p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consultation fees are concentrated between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₹500 and ₹1000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this is the common price range for doctor consultations.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small number of hospitals or specialists charge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fees (₹1500–₹3000)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creating the long right tail in the distribution.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also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low or zero consultation fees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may represent free consultations or promotional services.</a:t>
            </a:r>
          </a:p>
          <a:p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distribution shows that while </a:t>
            </a:r>
            <a:r>
              <a:rPr lang="en-US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consultation fees are most common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there is significant variation depending on the hospital, specialization, and service quality.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91AD2D-F03B-460C-681E-B8164479A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15" y="1354222"/>
            <a:ext cx="5281652" cy="39884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579933A-B364-82DF-32BD-7E30B848F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595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59AF9F8-2361-CD6A-F10E-4A3096E54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C3059CE4-75A8-C28B-D9B6-A7460D01C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Observation: Density Plot of Doctor Experience</a:t>
            </a:r>
          </a:p>
          <a:p>
            <a:r>
              <a:rPr lang="en-US" dirty="0"/>
              <a:t>The distribution of </a:t>
            </a:r>
            <a:r>
              <a:rPr lang="en-US" b="1" dirty="0"/>
              <a:t>doctor experience</a:t>
            </a:r>
            <a:r>
              <a:rPr lang="en-US" dirty="0"/>
              <a:t> appears </a:t>
            </a:r>
            <a:r>
              <a:rPr lang="en-US" b="1" dirty="0"/>
              <a:t>right-skewed (positively skewed)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9895FB-2D7C-29EA-1911-2F1D6625CE38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50F875-B76C-06A2-8825-3F0A637F91D0}"/>
              </a:ext>
            </a:extLst>
          </p:cNvPr>
          <p:cNvSpPr txBox="1"/>
          <p:nvPr/>
        </p:nvSpPr>
        <p:spPr>
          <a:xfrm>
            <a:off x="443061" y="769451"/>
            <a:ext cx="513012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5 working Hour Patterns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24x7 availability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has the highest share at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24.4%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many doctors offer round-the-clock consultation.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8:00 AM – 4:00 PM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accounts for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20.5%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of the working hours.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11:00 AM – 7:00 PM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9:00 AM – 6:00 PM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 similar distributions at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19.4%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19.3%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respectively.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10:00 AM – 8:00 PM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has the lowest share among the top patterns at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16.4%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D99B0-0A98-7FED-8425-3C9CA3C49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2493" y="1127760"/>
            <a:ext cx="5794412" cy="45145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85F6A7A-0B86-ED7B-110B-8472553BC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484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C0014C8-C78D-F2CB-0986-89D623B02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2A9D06A1-DCB9-5E00-5F25-E10D3F5BB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Observation: Density Plot of Doctor Experience</a:t>
            </a:r>
          </a:p>
          <a:p>
            <a:r>
              <a:rPr lang="en-US" dirty="0"/>
              <a:t>The distribution of </a:t>
            </a:r>
            <a:r>
              <a:rPr lang="en-US" b="1" dirty="0"/>
              <a:t>doctor experience</a:t>
            </a:r>
            <a:r>
              <a:rPr lang="en-US" dirty="0"/>
              <a:t> appears </a:t>
            </a:r>
            <a:r>
              <a:rPr lang="en-US" b="1" dirty="0"/>
              <a:t>right-skewed (positively skewed)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13F0D1-3EFC-B668-7E9B-AD25590FAF68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B2670-9E95-1168-878D-17DDB7984052}"/>
              </a:ext>
            </a:extLst>
          </p:cNvPr>
          <p:cNvSpPr txBox="1"/>
          <p:nvPr/>
        </p:nvSpPr>
        <p:spPr>
          <a:xfrm>
            <a:off x="810704" y="153893"/>
            <a:ext cx="105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38D3-7695-0E70-CA41-00B5CCB1AF8C}"/>
              </a:ext>
            </a:extLst>
          </p:cNvPr>
          <p:cNvSpPr txBox="1"/>
          <p:nvPr/>
        </p:nvSpPr>
        <p:spPr>
          <a:xfrm>
            <a:off x="133211" y="754057"/>
            <a:ext cx="47623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Diversity Across Cities</a:t>
            </a:r>
          </a:p>
          <a:p>
            <a:pPr algn="just"/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 the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specialization diversity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well-developed healthcare ecosystems with a wide range of medical services.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Cities such as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Mumbai, Pune, Kolkata, Hyderabad and Delhi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demonstrate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specialization diversity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balanced availability of healthcare services.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cities like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Coimbatore, Surat, Udaipur, Chandigarh, Lucknow, and Indore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fewer unique specializations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which may indicate limited access to specialized healthcare services.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A11CF4-F460-F2B3-FCF7-50174F00F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251" y="1508115"/>
            <a:ext cx="7017538" cy="422814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CC42577-AC52-6591-3A86-22A4A04F1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75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C84D66C6-0DAF-4AD3-779B-41D744B4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F9E8132-66F3-8719-3E7A-7BC04EF6FE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/>
              <a:t>Observation: Density Plot of Doctor Experience</a:t>
            </a:r>
          </a:p>
          <a:p>
            <a:r>
              <a:rPr lang="en-US" dirty="0"/>
              <a:t>The distribution of </a:t>
            </a:r>
            <a:r>
              <a:rPr lang="en-US" b="1" dirty="0"/>
              <a:t>doctor experience</a:t>
            </a:r>
            <a:r>
              <a:rPr lang="en-US" dirty="0"/>
              <a:t> appears </a:t>
            </a:r>
            <a:r>
              <a:rPr lang="en-US" b="1" dirty="0"/>
              <a:t>right-skewed (positively skewed)</a:t>
            </a:r>
            <a:r>
              <a:rPr lang="en-US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8FCEB-3EFE-04AD-45CE-65C6F5AE90F5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48D63-EFDF-13AA-847A-F62BC59221F8}"/>
              </a:ext>
            </a:extLst>
          </p:cNvPr>
          <p:cNvSpPr txBox="1"/>
          <p:nvPr/>
        </p:nvSpPr>
        <p:spPr>
          <a:xfrm>
            <a:off x="311084" y="769451"/>
            <a:ext cx="538004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 Plot grouped by City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Chennai, Delhi, and Jaipur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display a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median experience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many doctors in these cities have substantial professional experience.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Cities such as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Bangalore, Kolkata, and Pune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show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 experience levels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with a balanced spread of junior and experienced doctors.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cities show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outliers with very high experience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senior doctors with many years of practice.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spread of the boxes indicates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 in experience levels within each city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a mix of early-career and highly experienced healthcare professionals.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E59B79-5BF6-C091-0EA9-669A7FCCE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8" y="1354221"/>
            <a:ext cx="6084652" cy="45375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A32111-755A-5458-DF7D-8C12810FAD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5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84F875A-3D54-1243-1A3B-7685AB11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958CC933-227A-CBA1-F360-C378FA466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Density Plot of Doctor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appears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(positively skewed)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57DC4-D799-B476-AAE8-3D82C2A8813E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EA22E-48FF-1A06-4784-003552E76B78}"/>
              </a:ext>
            </a:extLst>
          </p:cNvPr>
          <p:cNvSpPr txBox="1"/>
          <p:nvPr/>
        </p:nvSpPr>
        <p:spPr>
          <a:xfrm>
            <a:off x="311083" y="1120675"/>
            <a:ext cx="529786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10 Specializations by Average Consultation Fee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Vascular Surgeons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 the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average consultation fee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the specialized and complex nature of vascular treatments.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Geriatricians, Neurologists, and Internal Medicine specialists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 moderately high consultation fees, as they handle a wide range of complex health conditions.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Nephrologists and Pulmonologists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also appear in the top 10, reflecting the demand for specialists dealing with kidney and respiratory-related diseases.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00D4DC-F23D-103F-4078-0E9F1F957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727" y="1119203"/>
            <a:ext cx="6157494" cy="461812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B2BFB8-6D53-AAFB-F94F-142244464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7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090BD01-1BC9-9A67-D71D-A309B0870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41F028E-79EF-9FF1-319D-0131843E4B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-1016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Density Plot of Doctor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appears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(positively skewed)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1F4E4-24E6-2618-159E-B09371397AB5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42DCF-E3CA-E8B8-2C63-933ADC215BDE}"/>
              </a:ext>
            </a:extLst>
          </p:cNvPr>
          <p:cNvSpPr txBox="1"/>
          <p:nvPr/>
        </p:nvSpPr>
        <p:spPr>
          <a:xfrm>
            <a:off x="311083" y="1120675"/>
            <a:ext cx="54095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Doctor Rating Distribution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vast majority of doctors are rated close to 10 Rating 10 has ~385 doctors — by far the most frequent value Very few doctors have ratings below 7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Nearly 400 doctors have a perfect 10 rating This is unusually high and suggests possible data quality issues or a biased rating system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185868-CF8F-268A-0D43-0A4DCE57F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C9C54B-F6FF-709A-13EE-64F3F4A0C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8" y="536864"/>
            <a:ext cx="5913632" cy="435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8866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3831A6E-B457-AB8E-012E-1BBF3359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583FA0AF-ED93-885F-116F-154160638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Density Plot of Doctor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appears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(positively skewed)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94E9D0-F4D2-4524-E2E2-4043C8FE52D5}"/>
              </a:ext>
            </a:extLst>
          </p:cNvPr>
          <p:cNvSpPr txBox="1"/>
          <p:nvPr/>
        </p:nvSpPr>
        <p:spPr>
          <a:xfrm>
            <a:off x="551466" y="90360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21A9B-A72F-547A-8EDD-867ADF841B38}"/>
              </a:ext>
            </a:extLst>
          </p:cNvPr>
          <p:cNvSpPr txBox="1"/>
          <p:nvPr/>
        </p:nvSpPr>
        <p:spPr>
          <a:xfrm>
            <a:off x="810704" y="153893"/>
            <a:ext cx="105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CE7F5-6569-C6C0-58E9-7B9584A03A80}"/>
              </a:ext>
            </a:extLst>
          </p:cNvPr>
          <p:cNvSpPr txBox="1"/>
          <p:nvPr/>
        </p:nvSpPr>
        <p:spPr>
          <a:xfrm>
            <a:off x="246665" y="615558"/>
            <a:ext cx="512259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x 7 Healthcare Accessibility by City</a:t>
            </a:r>
          </a:p>
          <a:p>
            <a:pPr algn="just"/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24x7 healthcare availability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with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limited-hour healthcare services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across different cities.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has the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number of healthcare facilities overall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largest number of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24x7 services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healthcare accessibility.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Bangalore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and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Gurgaon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also show relatively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24x7 availability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suggesting better emergency healthcare support in these metropolitan areas.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Smaller cities like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Surat, Udaipur, and Indore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have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counts of both 24x7 and limited-hour facilities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comparatively limited healthcare infrastructure.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FC8BAB-48CC-7789-E29B-DF2E73C17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63" y="1140756"/>
            <a:ext cx="6676262" cy="490272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24438F0-62DC-4DD1-4FB1-7121AE5B1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3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763801-BA38-4D60-2B9F-D4AA9BA36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6BC79176-588C-FEF1-3245-D0E7EE5A4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-1016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Density Plot of Doctor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appears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(positively skewed)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4FD346-9707-81E7-9469-0DE3154C6135}"/>
              </a:ext>
            </a:extLst>
          </p:cNvPr>
          <p:cNvSpPr txBox="1"/>
          <p:nvPr/>
        </p:nvSpPr>
        <p:spPr>
          <a:xfrm>
            <a:off x="557751" y="15389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AC432-BAD2-3B0E-AF4E-0616E99A8FE6}"/>
              </a:ext>
            </a:extLst>
          </p:cNvPr>
          <p:cNvSpPr txBox="1"/>
          <p:nvPr/>
        </p:nvSpPr>
        <p:spPr>
          <a:xfrm>
            <a:off x="311083" y="1120675"/>
            <a:ext cx="529786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of Numerical Features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shows the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between Experience, Consultation Fee, Rating, and Time Duration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correlations between variables are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weak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most factors such as experience, consultation fee, ratings, and working hours operate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independently in the dataset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33518C-4583-5075-79D2-ABDABCF1B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76" y="618693"/>
            <a:ext cx="5951532" cy="486404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37CF7B8-11E5-E233-0BBB-43F3210F5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0020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50A28D9-A33B-16CC-A230-F587041D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>
            <a:extLst>
              <a:ext uri="{FF2B5EF4-FFF2-40B4-BE49-F238E27FC236}">
                <a16:creationId xmlns:a16="http://schemas.microsoft.com/office/drawing/2014/main" id="{1E40D981-FBCB-C605-8E74-CC72B2DAE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-10160"/>
            <a:ext cx="12192000" cy="6857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Density Plot of Doctor Experience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 experience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appears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 (positively skewed)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33DD9F-5287-B2E5-07A9-82A06061AA92}"/>
              </a:ext>
            </a:extLst>
          </p:cNvPr>
          <p:cNvSpPr txBox="1"/>
          <p:nvPr/>
        </p:nvSpPr>
        <p:spPr>
          <a:xfrm>
            <a:off x="557751" y="143733"/>
            <a:ext cx="110764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99A7FB-3ABF-52FD-B211-AFC00DF4319F}"/>
              </a:ext>
            </a:extLst>
          </p:cNvPr>
          <p:cNvSpPr txBox="1"/>
          <p:nvPr/>
        </p:nvSpPr>
        <p:spPr>
          <a:xfrm>
            <a:off x="278876" y="710943"/>
            <a:ext cx="40109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 and Insights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some localities combine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specialist availability with moderate consultation fees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providing better healthcare accessibility and affordability.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areas with fewer specialists still have 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higher consultation fees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reflecting differences in hospital infrastructure, specialization demand, and healthcare market conditions across cities.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6B3507-2D0E-F674-5091-738B7F16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691" y="789013"/>
            <a:ext cx="7290569" cy="498421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FDC841-C7B8-513C-FE9C-5609F4AFD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6101428"/>
            <a:ext cx="3338185" cy="7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0725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12064" y="341376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733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Insights &amp; Conclusions</a:t>
            </a:r>
            <a:endParaRPr lang="en-US" sz="3733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  <p:txBody>
          <a:bodyPr/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2064" y="15849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🏙️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58240" y="1584960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Metro Dominance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" y="2170176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Chennai &amp; Bangalore lead in doctor count, specialization diversity, and 24x7 availability.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62424" y="1438656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7888" y="15849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💰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84064" y="1584960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Fee Disparity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37888" y="2170176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Consultation fees range from ₹0 to ₹3,000. Specialized roles (Vascular, Oncology) charge 2–3 times average.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17408" y="1463040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3712" y="1584960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⭐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009888" y="1584960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High Satisfaction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63712" y="2170176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Most doctors are rated 9–10/10, indicating consistent patient satisfaction across the dataset.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681984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80390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🕐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58240" y="3803904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24x7 Care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2064" y="4389120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Only ~24% of doctors offer round-the-clock services — emergency access remains a nationwide gap.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291584" y="3681984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7888" y="380390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👨‍⚕️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84064" y="3803904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Experienced Workforce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437888" y="4389120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Average experience peaks around 20 years. Senior doctors (40+) still receive excellent ratings.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17408" y="3681984"/>
            <a:ext cx="3657600" cy="2011680"/>
          </a:xfrm>
          <a:prstGeom prst="rect">
            <a:avLst/>
          </a:prstGeom>
          <a:solidFill>
            <a:srgbClr val="0A1A2E"/>
          </a:solidFill>
          <a:ln w="12700">
            <a:solidFill>
              <a:srgbClr val="1E3A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3712" y="3803904"/>
            <a:ext cx="609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📍</a:t>
            </a:r>
            <a:endParaRPr lang="en-US" sz="26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09888" y="3803904"/>
            <a:ext cx="27432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9B6F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Top Localities</a:t>
            </a:r>
            <a:endParaRPr lang="en-US" sz="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63712" y="4389120"/>
            <a:ext cx="3413760" cy="1121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FD8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 Nagar (Chennai), Whitefield (Bangalore), and Kilpauk (Chennai) are key healthcare hubs.</a:t>
            </a:r>
            <a:endParaRPr lang="en-US" sz="14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84E589-1820-D3B7-1638-7ACDC34E1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815" y="6111588"/>
            <a:ext cx="3338185" cy="7231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599" y="2997200"/>
            <a:ext cx="4741421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 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YOU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9D7A7D5-CCFF-5774-51AD-FD01B1508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815" y="5969924"/>
            <a:ext cx="3338185" cy="7231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2139</Words>
  <Application>Microsoft Office PowerPoint</Application>
  <PresentationFormat>Widescreen</PresentationFormat>
  <Paragraphs>374</Paragraphs>
  <Slides>30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Calibri Light</vt:lpstr>
      <vt:lpstr>Lato Black</vt:lpstr>
      <vt:lpstr>Libre Baskerville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JOSHI</dc:creator>
  <cp:lastModifiedBy>SHREYA JOSHI</cp:lastModifiedBy>
  <cp:revision>54</cp:revision>
  <dcterms:created xsi:type="dcterms:W3CDTF">2026-03-04T08:07:28Z</dcterms:created>
  <dcterms:modified xsi:type="dcterms:W3CDTF">2026-03-10T10:22:09Z</dcterms:modified>
</cp:coreProperties>
</file>